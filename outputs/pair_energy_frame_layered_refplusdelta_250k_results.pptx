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b5096077ab4342" /><Relationship Type="http://schemas.openxmlformats.org/officeDocument/2006/relationships/extended-properties" Target="/docProps/app.xml" Id="R966f424a48e341d1" /><Relationship Type="http://schemas.openxmlformats.org/officeDocument/2006/relationships/officeDocument" Target="/ppt/presentation.xml" Id="R5e72079ba2284c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d180531b8945b7"/>
  </p:sldMasterIdLst>
  <p:notesMasterIdLst>
    <p:notesMasterId xmlns:r="http://schemas.openxmlformats.org/officeDocument/2006/relationships" r:id="R614febf0ec5a4f91"/>
  </p:notesMasterIdLst>
  <p:sldIdLst>
    <p:sldId xmlns:r="http://schemas.openxmlformats.org/officeDocument/2006/relationships" id="256" r:id="R4f0e81bd3c504b58"/>
    <p:sldId xmlns:r="http://schemas.openxmlformats.org/officeDocument/2006/relationships" id="257" r:id="Rdf5db7c952734e88"/>
    <p:sldId xmlns:r="http://schemas.openxmlformats.org/officeDocument/2006/relationships" id="258" r:id="Rb3ca4fd7cf594d16"/>
    <p:sldId xmlns:r="http://schemas.openxmlformats.org/officeDocument/2006/relationships" id="259" r:id="R6864dc149cf24916"/>
    <p:sldId xmlns:r="http://schemas.openxmlformats.org/officeDocument/2006/relationships" id="260" r:id="Rf5f13b852b3d45c8"/>
    <p:sldId xmlns:r="http://schemas.openxmlformats.org/officeDocument/2006/relationships" id="261" r:id="R0a0ba74f9b554da8"/>
    <p:sldId xmlns:r="http://schemas.openxmlformats.org/officeDocument/2006/relationships" id="262" r:id="R8eac0f69e5bc442a"/>
    <p:sldId xmlns:r="http://schemas.openxmlformats.org/officeDocument/2006/relationships" id="263" r:id="Rf95313d73d384744"/>
    <p:sldId xmlns:r="http://schemas.openxmlformats.org/officeDocument/2006/relationships" id="264" r:id="Rbed3ac48a9104f9c"/>
    <p:sldId xmlns:r="http://schemas.openxmlformats.org/officeDocument/2006/relationships" id="265" r:id="R8c4db97ec3f54ee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001a8178e246f1" /><Relationship Type="http://schemas.openxmlformats.org/officeDocument/2006/relationships/slideMaster" Target="/ppt/slideMasters/slideMaster1.xml" Id="R80d180531b8945b7" /><Relationship Type="http://schemas.openxmlformats.org/officeDocument/2006/relationships/notesMaster" Target="/ppt/notesMasters/notesMaster1.xml" Id="R614febf0ec5a4f91" /><Relationship Type="http://schemas.openxmlformats.org/officeDocument/2006/relationships/presProps" Target="/ppt/presProps.xml" Id="R1ce16d7f876f4744" /><Relationship Type="http://schemas.openxmlformats.org/officeDocument/2006/relationships/tableStyles" Target="/ppt/tableStyles.xml" Id="Rbeafe27c710b48d4" /><Relationship Type="http://schemas.openxmlformats.org/officeDocument/2006/relationships/slide" Target="/ppt/slides/slide1.xml" Id="R4f0e81bd3c504b58" /><Relationship Type="http://schemas.openxmlformats.org/officeDocument/2006/relationships/slide" Target="/ppt/slides/slide2.xml" Id="Rdf5db7c952734e88" /><Relationship Type="http://schemas.openxmlformats.org/officeDocument/2006/relationships/slide" Target="/ppt/slides/slide3.xml" Id="Rb3ca4fd7cf594d16" /><Relationship Type="http://schemas.openxmlformats.org/officeDocument/2006/relationships/slide" Target="/ppt/slides/slide4.xml" Id="R6864dc149cf24916" /><Relationship Type="http://schemas.openxmlformats.org/officeDocument/2006/relationships/slide" Target="/ppt/slides/slide5.xml" Id="Rf5f13b852b3d45c8" /><Relationship Type="http://schemas.openxmlformats.org/officeDocument/2006/relationships/slide" Target="/ppt/slides/slide6.xml" Id="R0a0ba74f9b554da8" /><Relationship Type="http://schemas.openxmlformats.org/officeDocument/2006/relationships/slide" Target="/ppt/slides/slide7.xml" Id="R8eac0f69e5bc442a" /><Relationship Type="http://schemas.openxmlformats.org/officeDocument/2006/relationships/slide" Target="/ppt/slides/slide8.xml" Id="Rf95313d73d384744" /><Relationship Type="http://schemas.openxmlformats.org/officeDocument/2006/relationships/slide" Target="/ppt/slides/slide9.xml" Id="Rbed3ac48a9104f9c" /><Relationship Type="http://schemas.openxmlformats.org/officeDocument/2006/relationships/slide" Target="/ppt/slides/slide10.xml" Id="R8c4db97ec3f54e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0fbcb9194345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c35d44c87f4dd1" /><Relationship Type="http://schemas.openxmlformats.org/officeDocument/2006/relationships/notesMaster" Target="/ppt/notesMasters/notesMaster1.xml" Id="R05f1ad0369c24d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a5c7df6f0c4e18" /><Relationship Type="http://schemas.openxmlformats.org/officeDocument/2006/relationships/notesMaster" Target="/ppt/notesMasters/notesMaster1.xml" Id="Re66ac54bccc54a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887a057b164a1e" /><Relationship Type="http://schemas.openxmlformats.org/officeDocument/2006/relationships/notesMaster" Target="/ppt/notesMasters/notesMaster1.xml" Id="R496d12dbd0fb45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fc2282856c4de3" /><Relationship Type="http://schemas.openxmlformats.org/officeDocument/2006/relationships/notesMaster" Target="/ppt/notesMasters/notesMaster1.xml" Id="Rbea8cf13934645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1c61fd669b4aa7" /><Relationship Type="http://schemas.openxmlformats.org/officeDocument/2006/relationships/notesMaster" Target="/ppt/notesMasters/notesMaster1.xml" Id="Rc8ee5ee7ed204d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782be7e8224f4c" /><Relationship Type="http://schemas.openxmlformats.org/officeDocument/2006/relationships/notesMaster" Target="/ppt/notesMasters/notesMaster1.xml" Id="R57e753a473b741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8f8346e1ac4b7c" /><Relationship Type="http://schemas.openxmlformats.org/officeDocument/2006/relationships/notesMaster" Target="/ppt/notesMasters/notesMaster1.xml" Id="Re67961fe5c3142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8034fcf1cd49d5" /><Relationship Type="http://schemas.openxmlformats.org/officeDocument/2006/relationships/notesMaster" Target="/ppt/notesMasters/notesMaster1.xml" Id="Rb000c0d9bab747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f2224e74454195" /><Relationship Type="http://schemas.openxmlformats.org/officeDocument/2006/relationships/notesMaster" Target="/ppt/notesMasters/notesMaster1.xml" Id="R4a1ca0840c1342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78f5d277a640b2" /><Relationship Type="http://schemas.openxmlformats.org/officeDocument/2006/relationships/notesMaster" Target="/ppt/notesMasters/notesMaster1.xml" Id="Rdf7d92add0f946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942bb35a7c47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c12c0b91a24851" /><Relationship Type="http://schemas.openxmlformats.org/officeDocument/2006/relationships/slideLayout" Target="/ppt/slideLayouts/slideLayout1.xml" Id="Rb450f1b6f6c84d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50f1b6f6c84d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cf81a77604cf6" /><Relationship Type="http://schemas.openxmlformats.org/officeDocument/2006/relationships/notesSlide" Target="/ppt/notesSlides/notesSlide1.xml" Id="Re19b5e0383564e3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fa5531f2e4343" /><Relationship Type="http://schemas.openxmlformats.org/officeDocument/2006/relationships/notesSlide" Target="/ppt/notesSlides/notesSlide2.xml" Id="Rc5be1c2d6e6949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598cf41f18497a" /><Relationship Type="http://schemas.openxmlformats.org/officeDocument/2006/relationships/notesSlide" Target="/ppt/notesSlides/notesSlide3.xml" Id="Rbfbd33efc80941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fb783ee2442ed" /><Relationship Type="http://schemas.openxmlformats.org/officeDocument/2006/relationships/notesSlide" Target="/ppt/notesSlides/notesSlide4.xml" Id="R15f3c77b78d144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7df1bc4c74b95" /><Relationship Type="http://schemas.openxmlformats.org/officeDocument/2006/relationships/notesSlide" Target="/ppt/notesSlides/notesSlide5.xml" Id="Rce5ccf3f034a41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aaf4e4ad1d4151" /><Relationship Type="http://schemas.openxmlformats.org/officeDocument/2006/relationships/notesSlide" Target="/ppt/notesSlides/notesSlide6.xml" Id="R772c4abf6f1643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dbd42e61c4a77" /><Relationship Type="http://schemas.openxmlformats.org/officeDocument/2006/relationships/image" Target="/ppt/media/image.png" Id="Rfec5cfe842744fe6" /><Relationship Type="http://schemas.openxmlformats.org/officeDocument/2006/relationships/image" Target="/ppt/media/image2.png" Id="Rdaf7a2e5dbe44ec1" /><Relationship Type="http://schemas.openxmlformats.org/officeDocument/2006/relationships/notesSlide" Target="/ppt/notesSlides/notesSlide7.xml" Id="Rb1f634b501c04f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b847aafdd41a5" /><Relationship Type="http://schemas.openxmlformats.org/officeDocument/2006/relationships/image" Target="/ppt/media/image3.png" Id="Raa525617f1a9461d" /><Relationship Type="http://schemas.openxmlformats.org/officeDocument/2006/relationships/image" Target="/ppt/media/image4.png" Id="Rcd681d3c2148479a" /><Relationship Type="http://schemas.openxmlformats.org/officeDocument/2006/relationships/image" Target="/ppt/media/image5.png" Id="Rfce7a0fc9c354ed4" /><Relationship Type="http://schemas.openxmlformats.org/officeDocument/2006/relationships/notesSlide" Target="/ppt/notesSlides/notesSlide8.xml" Id="R604046c59b864b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e6a3fce764432" /><Relationship Type="http://schemas.openxmlformats.org/officeDocument/2006/relationships/image" Target="/ppt/media/image6.png" Id="Rd89e98483cf440bc" /><Relationship Type="http://schemas.openxmlformats.org/officeDocument/2006/relationships/image" Target="/ppt/media/image7.png" Id="R2aa8681c776a4b2f" /><Relationship Type="http://schemas.openxmlformats.org/officeDocument/2006/relationships/image" Target="/ppt/media/image8.png" Id="R43cf6f2445b34695" /><Relationship Type="http://schemas.openxmlformats.org/officeDocument/2006/relationships/notesSlide" Target="/ppt/notesSlides/notesSlide9.xml" Id="R18f4baa3926c4f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068c41b35407e" /><Relationship Type="http://schemas.openxmlformats.org/officeDocument/2006/relationships/image" Target="/ppt/media/image9.png" Id="R51a59ab863134cc6" /><Relationship Type="http://schemas.openxmlformats.org/officeDocument/2006/relationships/notesSlide" Target="/ppt/notesSlides/notesSlide10.xml" Id="Rb74542a756504f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9B1EC9-9463-48EB-8B82-CC74F5B9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"/>
            <a:ext cx="781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</a:defRPr>
            </a:pPr>
            <a:r>
              <a:rPr sz="4200" b="1">
                <a:solidFill>
                  <a:srgbClr val="000000"/>
                </a:solidFill>
              </a:rPr>
              <a:t>Архитектура pair-energy RNN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8A2C08-0C77-4B2A-B999-420EC7DC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Организация входа, слои сети и выходные величины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922FC-C918-41A0-89B1-EB5D52F8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7000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Архитектура описывает атомное окружение через пары центр–сосед, обрабатывает историю кадров рекуррентным блоком и вычисляет силы как производные скалярной энергии.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818CC-D89F-45A4-A6CD-3206E8A1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0"/>
            <a:ext cx="3733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D5C0F2-80CE-4A17-9BCD-0F0AB0B3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181100"/>
            <a:ext cx="266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C8459A-3726-4330-AF92-AB2592AB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295400"/>
            <a:ext cx="2400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история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смещений атомов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E94BF-94DD-4BFA-AC00-9613B12E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050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892E0E-8712-4D2C-B5F8-A8367B9F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90850"/>
            <a:ext cx="266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F26976-605A-4D4F-929E-72BFD127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05150"/>
            <a:ext cx="2400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тензор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парных признаков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236D8-D32F-457A-9CE3-5201ACFD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148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A045C9-98E8-4F60-B28F-B101A537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00600"/>
            <a:ext cx="266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614F78-2391-4F32-B7A5-62BD2ABD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14900"/>
            <a:ext cx="2400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энергия и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ускорения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BA881-0A2B-432B-9073-9CD203E5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Cu pair-energy RNN / 250k ASE NVT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75EFBF-5C51-4C2B-997F-44EFBC20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484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52830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3B419A-4B17-4617-9414-43560C9F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E3857-39C2-4CB5-85F5-6E4FBFD2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Входные данные: история смещений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7ABDD-4222-4121-A250-C27ECA17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Cu pair-energy RNN / 250k ASE NVT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BCD90-391F-4B7F-99E1-A83FF2CE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484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C00C5-EB97-48DA-8615-B712BA40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895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Для каждого атома известны равновесное положение R⁰ и смещения u(t) в нескольких последовательных кадрах.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2CB75-751F-455E-876B-2ED260A1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33E56-7EC6-41D8-AA35-D97796D3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1543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frame t−2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u(t−2)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406BA-39C0-47F4-9D2A-B94E45F3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146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584E02-B9BA-4308-96BC-E17DBDC5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908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02854-417A-480A-819E-47886502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05100"/>
            <a:ext cx="1543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frame t−1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u(t−1)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5D11D-BE36-4B8D-B362-0193B1E9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146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4B9BAB-C4D8-437F-A609-80CB488F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48B7D1-BC3F-4ECE-992C-2227823A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05100"/>
            <a:ext cx="1543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frame t</a:t>
            </a:r>
          </a:p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u(t)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61DBA8-ADF0-415B-A758-84CACE85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146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6CC69-1225-486E-9A2A-1FACFCC9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908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5BE890-043E-48C7-9BC4-6F93A7BB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05100"/>
            <a:ext cx="15430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расчет</a:t>
            </a:r>
          </a:p>
          <a:p xmlns:a="http://schemas.openxmlformats.org/drawingml/2006/main">
            <a:pPr algn="ctr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при 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D09F62-A48D-4422-B244-5ADA003E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9667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4561A3-39BD-4C69-AD99-B8F47655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Тензор до построения пар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FB76A5-AD5D-4E3D-9D88-13F6A1A1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2445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shape: batch × history_length × atoms × 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D00DFA-DDB8-4750-B153-C9424A87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244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в последних расчетах history_length = 3</a:t>
            </a:r>
          </a:p>
        </p:txBody>
      </p:sp>
    </p:spTree>
    <p:extLst>
      <p:ext uri="{BB962C8B-B14F-4D97-AF65-F5344CB8AC3E}">
        <p14:creationId xmlns:p14="http://schemas.microsoft.com/office/powerpoint/2010/main" val="2183129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F8BA63-9DD9-4BCE-A8B4-EBB0A534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PAIR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B1D8A-C57F-4F70-85BF-4AA68732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Переход от атомов к парам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CE1ED0-8D25-4B60-B6C3-5BA24E55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Cu pair-energy RNN / 250k ASE NVT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E9C464-80F0-44EC-B3BF-B2CD3793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484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AFF51-6BE9-41BB-BF7D-F8CD955A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Для каждого центрального атома выбирается фиксированный список соседей. На каждой паре строится вектор признаков.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91186E-DB61-48D8-87BC-678CEF8B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A3368-815E-4D7A-913B-8FA92503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1447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центральный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атом 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DF906-0552-4AB9-A703-CA1BB829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432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96B567-3BD7-4C87-9B9D-2FD4B690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765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04E57-364D-492B-8132-F822D6EF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90800"/>
            <a:ext cx="1733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сосед j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из списка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851D8-28C0-4A32-A8B4-1A7D5C7D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432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AC827-B8D4-478F-8FC6-C5EB514D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765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8EB89-D3EA-4FD8-B3C0-1A9F2343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90800"/>
            <a:ext cx="1733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парный вектор</a:t>
            </a:r>
          </a:p>
          <a:p xmlns:a="http://schemas.openxmlformats.org/drawingml/2006/main">
            <a:pPr algn="ctr">
              <a:defRPr sz="1350" b="1">
                <a:solidFill>
                  <a:srgbClr val="FF6B35"/>
                </a:solidFill>
              </a:defRPr>
            </a:pPr>
            <a:r>
              <a:rPr sz="1350" b="1">
                <a:solidFill>
                  <a:srgbClr val="FF6B35"/>
                </a:solidFill>
              </a:rPr>
              <a:t>xᵢⱼ(t)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ED86B9-D47C-4A87-BEDF-DAC9C1A5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4320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8CD048-A9D2-488D-AEA8-E5D7F65D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76500"/>
            <a:ext cx="200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DDA39D-B3E8-4E60-BC6D-17C835EB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90800"/>
            <a:ext cx="1733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все пары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для всех атомов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44A4C3-E1D8-41C5-8421-21E278D16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9715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AB18D2-2A46-4F77-B734-7BFE439E8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577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Для каждого кадра истории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346710-9D62-49AA-BB64-6A71E31E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958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r⁰ᵢⱼ = R⁰ⱼ − R⁰ᵢ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A82B6B-8BC6-4A27-AC3D-4C6950ED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8958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δuᵢⱼ(t) = uⱼ(t) − uᵢ(t)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61A316-CF56-4FE6-BF83-ED61B944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95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6B35"/>
                </a:solidFill>
              </a:defRPr>
            </a:pPr>
            <a:r>
              <a:rPr sz="1875" b="0">
                <a:solidFill>
                  <a:srgbClr val="FF6B35"/>
                </a:solidFill>
              </a:rPr>
              <a:t>xᵢⱼ(t) = [r⁰ᵢⱼ, δuᵢⱼ(t)]</a:t>
            </a:r>
          </a:p>
        </p:txBody>
      </p:sp>
    </p:spTree>
    <p:extLst>
      <p:ext uri="{BB962C8B-B14F-4D97-AF65-F5344CB8AC3E}">
        <p14:creationId xmlns:p14="http://schemas.microsoft.com/office/powerpoint/2010/main" val="9462145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7D5993-4FF7-44E3-91FD-237E35B9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NETWORK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13DD1-81C2-4DF2-9893-95EC8820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Тензор входа сети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012F5-9724-423B-A8EF-6309E1C5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Cu pair-energy RNN / 250k ASE NVT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530A6-85FD-44D0-BB2D-E4C57C25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484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0AAF97-4264-4E9A-8D73-1B6240AB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После построения пар вход имеет явную ось времени, ось атомов, ось соседей и шесть признаков пары.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80A51-ECC4-4FD1-A6F2-3E153756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990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94ACB-D359-4FA2-B3C6-756F6AC8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4795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6B35"/>
                </a:solidFill>
              </a:defRPr>
            </a:pPr>
            <a:r>
              <a:rPr sz="3000" b="1">
                <a:solidFill>
                  <a:srgbClr val="FF6B35"/>
                </a:solidFill>
              </a:rPr>
              <a:t>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9E1F5-D979-4002-AAC6-E86C8509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</a:defRPr>
            </a:pPr>
            <a:r>
              <a:rPr sz="2175" b="1">
                <a:solidFill>
                  <a:srgbClr val="000000"/>
                </a:solidFill>
              </a:rPr>
              <a:t>batch × history_length × atoms × neighbors ×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DA02CA-4069-4B4C-BD4A-BED87DF2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6 = 3 components of reference pair vector + 3 components of relative displacement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DBDB1-7CD6-4F43-8DB7-7F92E81B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1ED3C-99D1-4C02-8BAD-807C8BB0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14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Равновесная часть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4A0716-CDE0-45A9-A761-A8A5C703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14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r⁰ᵢⱼ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D0127F-D8E2-4A76-A313-1D1C4461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48200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FC86F7-1C4D-4D44-9904-58EFC01D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86250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F5C4B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43B6B7-7C1F-47EA-A813-1CBD69B8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148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Динамическая часть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36E9CD-C3E1-4EC8-A3EE-744CADEF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149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F6B35"/>
                </a:solidFill>
              </a:defRPr>
            </a:pPr>
            <a:r>
              <a:rPr sz="1875" b="0">
                <a:solidFill>
                  <a:srgbClr val="FF6B35"/>
                </a:solidFill>
              </a:rPr>
              <a:t>δuᵢⱼ(t)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3AC021-0FBB-4174-8BEA-64BBEBA6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48200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=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C62166-6E4A-4E26-81E2-7E2B713A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8625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B4825C-2883-4CEE-B6A2-40C19ACA2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148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Парный признак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44CD02-1E86-4E3A-B265-2C97AE9F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149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</a:rPr>
              <a:t>xᵢⱼ(t)</a:t>
            </a:r>
          </a:p>
        </p:txBody>
      </p:sp>
    </p:spTree>
    <p:extLst>
      <p:ext uri="{BB962C8B-B14F-4D97-AF65-F5344CB8AC3E}">
        <p14:creationId xmlns:p14="http://schemas.microsoft.com/office/powerpoint/2010/main" val="14788164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99AF4A-A93F-4BCA-BC01-D2D03A00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FRAME-LAYERED RNN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6DAC0-1E65-4BC7-9767-A9E79D5E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Рекуррентный блок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B7361-2E91-4EBA-BF22-B51B1534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Cu pair-energy RNN / 250k ASE NVT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E609F-C676-46F9-96E2-B5BA0D7F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484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45B91-CCA8-4D0F-8B90-33ABAE4B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981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</a:rPr>
              <a:t>В режиме frame-layered каждый кадр истории подается на свой рекуррентный слой. Число слоев равно длине истории.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D7CFE-59FE-4648-9421-7C5E492B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A5F7D1-3DB8-4DE2-81BA-7B46BE88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135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xᵢⱼ(t−2)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FF816-428F-4175-8FFF-5B72E110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6860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B45C6-9F02-48F2-A17B-DC0877D3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765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4E3D0C-CC68-4DB0-A300-B1378E3D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90800"/>
            <a:ext cx="15430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RNN слой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A3972-E2FE-4139-820A-8283E537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53F9D-34DD-4298-82D2-D07A6020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h₁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4C10B1-02D7-49EB-9D1D-BD4EC558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D553B-F15B-4F51-B9C9-9FD79AAD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90800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xᵢⱼ(t−1)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RNN слой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6F9FA9-BF46-48F2-874C-48CAC53A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860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DFF7A-62FB-49D8-B0C8-C9BFFF1E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480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h₂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AAF65-1949-4C63-A6C7-3C855094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765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72ECD2-2636-4EDA-B436-6944B223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90800"/>
            <a:ext cx="1733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xᵢⱼ(t)</a:t>
            </a:r>
          </a:p>
          <a:p xmlns:a="http://schemas.openxmlformats.org/drawingml/2006/main">
            <a:pPr algn="ctr">
              <a:defRPr sz="1500" b="1">
                <a:solidFill>
                  <a:srgbClr val="000000"/>
                </a:solidFill>
              </a:defRPr>
            </a:pPr>
            <a:r>
              <a:rPr sz="1500" b="1">
                <a:solidFill>
                  <a:srgbClr val="000000"/>
                </a:solidFill>
              </a:rPr>
              <a:t>RNN слой 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504189-087D-405A-AAC9-68DA7D2B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7665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C04FB8-E943-47C0-A6BD-C19C7768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76750"/>
            <a:ext cx="142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3F32E8-A54A-4E28-85EC-B794B32C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1162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h₃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9AF523-BE6B-4583-9B5A-C6AB2FE0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581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BBC3FB-CDC7-435F-AC98-92236917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91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Выход рекуррентного блока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1E35E7-3EE1-408C-9985-A59830A2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911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Последнее скрытое состояние h₃ передается в энергетический MLP для каждой пары.</a:t>
            </a:r>
          </a:p>
        </p:txBody>
      </p:sp>
    </p:spTree>
    <p:extLst>
      <p:ext uri="{BB962C8B-B14F-4D97-AF65-F5344CB8AC3E}">
        <p14:creationId xmlns:p14="http://schemas.microsoft.com/office/powerpoint/2010/main" val="4061470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C78DEF-5BD0-4A02-9AD1-2298B178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MODEL OUTPUT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A26CD-AA06-4CD8-90C5-39D6E5F3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Выход сети: энергия и ускорения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C1386-2B79-4DC8-9027-2A55AA0A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Cu pair-energy RNN / 250k ASE NVT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89119-355E-4EEA-AC7B-D95E51C2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484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514FE-CB9C-4654-A2B6-B2A3363F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695CC-3845-4F08-A81E-19EF1096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1543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скрытое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состояние h₃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CD772-0424-4732-B103-C729A8D5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717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D6588-42B9-4BB5-B038-6BEAF09D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66950"/>
            <a:ext cx="1809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A0BA0-6D5C-4F2A-A395-141D8C82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1543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энергетический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</a:rPr>
              <a:t>MLP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B5E04-BC00-4AEA-BC8E-51E73622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5717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84700-382A-4B16-8B96-9C12FCE8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66950"/>
            <a:ext cx="1619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6B4C3A-33A0-4211-8AEF-1BB9A7F5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scalar</a:t>
            </a:r>
          </a:p>
          <a:p xmlns:a="http://schemas.openxmlformats.org/drawingml/2006/main">
            <a:pPr algn="ctr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Eᵢⱼ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D155B-C7A7-4A0B-ADAD-E58CE4B3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53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F77F59-1CC6-4363-B7DF-F1A67F03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33700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55555"/>
                </a:solidFill>
              </a:defRPr>
            </a:pPr>
            <a:r>
              <a:rPr sz="975" b="0">
                <a:solidFill>
                  <a:srgbClr val="555555"/>
                </a:solidFill>
              </a:rPr>
              <a:t>sum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D747A9-5A62-4D05-9A46-FB2219DC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1619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82CF69-1EC5-4014-9428-16DB11A9D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81250"/>
            <a:ext cx="1352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E_total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10A40D-8228-4E94-B9BC-784C588C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38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E535B3-2C29-422C-A11E-52BA173F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Силы и ускорения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9D011F-3F6D-4A63-B3D6-00E0BF40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6B35"/>
                </a:solidFill>
              </a:defRPr>
            </a:pPr>
            <a:r>
              <a:rPr sz="1800" b="0">
                <a:solidFill>
                  <a:srgbClr val="FF6B35"/>
                </a:solidFill>
              </a:rPr>
              <a:t>Fᵢ = −∂E_total / ∂uᵢ,    aᵢ = Fᵢ / m_Cu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5E6F7B-0FB2-437B-9D9F-D1D58469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71950"/>
            <a:ext cx="4476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405329-1EBA-42B5-88B7-1C11AE50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005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</a:rPr>
              <a:t>Выходные величины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3CC0D4-AC53-43AA-9F20-8B187A1F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57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ускорения всех атомов; полная энергия для ASE-диагностики</a:t>
            </a:r>
          </a:p>
        </p:txBody>
      </p:sp>
    </p:spTree>
    <p:extLst>
      <p:ext uri="{BB962C8B-B14F-4D97-AF65-F5344CB8AC3E}">
        <p14:creationId xmlns:p14="http://schemas.microsoft.com/office/powerpoint/2010/main" val="19851777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B643D3-CBFF-4F6E-89CA-C439B58E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ASE NVT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0DBDC-0C12-421A-ABF6-210A1ECC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Большой прогон: 250000 шагов на Cu 10×5×5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C8B08C-1064-47CA-A0AD-3DF2D128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Cu pair-energy RNN / 250k ASE NVT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BAE65-D325-48A3-87C8-D1674D9F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484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AEC45-E99E-42FB-8AC2-43ACD94E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A5B5E6-A306-4294-9685-D9073170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500 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E30F0-10DA-4611-BFAB-FFDE88A2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длина траектории, dt = 0.002 ps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B38CC-FC5C-454D-B26A-917FEC9D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573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C3113-0E6F-4BA0-8C5D-97169F98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86690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803D"/>
                </a:solidFill>
              </a:defRPr>
            </a:pPr>
            <a:r>
              <a:rPr sz="3000" b="1">
                <a:solidFill>
                  <a:srgbClr val="15803D"/>
                </a:solidFill>
              </a:rPr>
              <a:t>301.4 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0F8DA-4329-4D82-84E7-67EA6E31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3365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средняя температура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5A0DFC-2CA4-438D-A4DF-8F725F4A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6573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BCCEBB-5023-4498-92E5-41B00885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6690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803D"/>
                </a:solidFill>
              </a:defRPr>
            </a:pPr>
            <a:r>
              <a:rPr sz="3000" b="1">
                <a:solidFill>
                  <a:srgbClr val="15803D"/>
                </a:solidFill>
              </a:rPr>
              <a:t>0.9994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236EF-61F5-4484-A635-6B324B8C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3365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velocity mean ratio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10FD84-AE5C-4884-9F8F-16823716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5735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E806B5-BF2C-44E3-A8C2-FBF19078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6690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6B35"/>
                </a:solidFill>
              </a:defRPr>
            </a:pPr>
            <a:r>
              <a:rPr sz="3000" b="1">
                <a:solidFill>
                  <a:srgbClr val="FF6B35"/>
                </a:solidFill>
              </a:rPr>
              <a:t>0.9675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36936A-38F9-4348-8406-D528958AD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3365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sound-speed ratio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c5cfe842744fe6"/>
          <a:stretch xmlns:a="http://schemas.openxmlformats.org/drawingml/2006/main"/>
        </p:blipFill>
        <p:spPr>
          <a:xfrm xmlns:a="http://schemas.openxmlformats.org/drawingml/2006/main">
            <a:off x="1003697" y="3638550"/>
            <a:ext cx="4107656" cy="2190750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7a2e5dbe44ec1"/>
          <a:stretch xmlns:a="http://schemas.openxmlformats.org/drawingml/2006/main"/>
        </p:blipFill>
        <p:spPr>
          <a:xfrm xmlns:a="http://schemas.openxmlformats.org/drawingml/2006/main">
            <a:off x="6291943" y="3638550"/>
            <a:ext cx="4694464" cy="2190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6983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535724-EC9E-46DF-AABB-7EB5FF78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S(Q,W), VACF, RDF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B7FBEB-04BA-4935-8687-28B61657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Динамические и структурные проверки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21209-35A7-4EAE-B477-378C59FA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Cu pair-energy RNN / 250k ASE NVT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52747-3F6B-4E72-9172-E842C6F9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484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08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25617f1a9461d"/>
          <a:stretch xmlns:a="http://schemas.openxmlformats.org/drawingml/2006/main"/>
        </p:blipFill>
        <p:spPr>
          <a:xfrm xmlns:a="http://schemas.openxmlformats.org/drawingml/2006/main">
            <a:off x="438150" y="1968861"/>
            <a:ext cx="4810125" cy="1967778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681d3c2148479a"/>
          <a:stretch xmlns:a="http://schemas.openxmlformats.org/drawingml/2006/main"/>
        </p:blipFill>
        <p:spPr>
          <a:xfrm xmlns:a="http://schemas.openxmlformats.org/drawingml/2006/main">
            <a:off x="5619750" y="1887934"/>
            <a:ext cx="2762250" cy="1081881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e7a0fc9c354ed4"/>
          <a:stretch xmlns:a="http://schemas.openxmlformats.org/drawingml/2006/main"/>
        </p:blipFill>
        <p:spPr>
          <a:xfrm xmlns:a="http://schemas.openxmlformats.org/drawingml/2006/main">
            <a:off x="8667750" y="2023170"/>
            <a:ext cx="2762250" cy="811411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1517B-75CC-43B5-A2E1-A518BEE7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9575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765E4-1362-436D-B2F8-DD4BF0F8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0530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6B35"/>
                </a:solidFill>
              </a:defRPr>
            </a:pPr>
            <a:r>
              <a:rPr sz="3000" b="1">
                <a:solidFill>
                  <a:srgbClr val="FF6B35"/>
                </a:solidFill>
              </a:rPr>
              <a:t>0.812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085E65-E7DB-46AB-968F-B37E3420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9720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S(q,w) correlation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E7202-0481-4AD8-A747-FE1F7B36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9575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C6E62A-026E-49D5-A259-C08176BE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803D"/>
                </a:solidFill>
              </a:defRPr>
            </a:pPr>
            <a:r>
              <a:rPr sz="3000" b="1">
                <a:solidFill>
                  <a:srgbClr val="15803D"/>
                </a:solidFill>
              </a:rPr>
              <a:t>0.992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29CBC8-1261-4AA0-98D2-570E547F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720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VACF correlation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04D53-C7DC-4EEC-B2B4-38FBB9C6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095750"/>
            <a:ext cx="1809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D27A5E-271C-48AD-8543-49BB0C4B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305300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803D"/>
                </a:solidFill>
              </a:defRPr>
            </a:pPr>
            <a:r>
              <a:rPr sz="3000" b="1">
                <a:solidFill>
                  <a:srgbClr val="15803D"/>
                </a:solidFill>
              </a:rPr>
              <a:t>0.999995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F7C3F-B554-42FF-ABE0-72CEFE4B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720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RDF correlation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F8B147-CC7A-4370-9285-F6EBFD54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57850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Важно: S(q,w) сравнивается только с доступным reference overlap; длинный ASE-прогон использует все 250001 кадров для ансамблевых статистик.</a:t>
            </a:r>
          </a:p>
        </p:txBody>
      </p:sp>
    </p:spTree>
    <p:extLst>
      <p:ext uri="{BB962C8B-B14F-4D97-AF65-F5344CB8AC3E}">
        <p14:creationId xmlns:p14="http://schemas.microsoft.com/office/powerpoint/2010/main" val="4731456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6B271C-9FDD-4759-8337-0F5342C95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THERMODYNAMIC DIAGNOSTICS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0E19E-8FCD-4401-AA7F-32EFAA63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Энергия: прямой E_tot стабилен на 500 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D8986-01B4-4C1E-B132-202BB38F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Cu pair-energy RNN / 250k ASE NVT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6CB52-752A-4A3E-8AB9-4B0F31D7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484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09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9e98483cf440bc"/>
          <a:stretch xmlns:a="http://schemas.openxmlformats.org/drawingml/2006/main"/>
        </p:blipFill>
        <p:spPr>
          <a:xfrm xmlns:a="http://schemas.openxmlformats.org/drawingml/2006/main">
            <a:off x="962025" y="1428750"/>
            <a:ext cx="2571750" cy="25717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a8681c776a4b2f"/>
          <a:stretch xmlns:a="http://schemas.openxmlformats.org/drawingml/2006/main"/>
        </p:blipFill>
        <p:spPr>
          <a:xfrm xmlns:a="http://schemas.openxmlformats.org/drawingml/2006/main">
            <a:off x="4667250" y="1428750"/>
            <a:ext cx="2857500" cy="25717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f6f2445b34695"/>
          <a:stretch xmlns:a="http://schemas.openxmlformats.org/drawingml/2006/main"/>
        </p:blipFill>
        <p:spPr>
          <a:xfrm xmlns:a="http://schemas.openxmlformats.org/drawingml/2006/main">
            <a:off x="8134350" y="1508125"/>
            <a:ext cx="3619500" cy="2413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89A95A-6E26-449F-B6CE-04F94602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247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B9E22-C910-4A01-9381-2259D2BE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803D"/>
                </a:solidFill>
              </a:defRPr>
            </a:pPr>
            <a:r>
              <a:rPr sz="3000" b="1">
                <a:solidFill>
                  <a:srgbClr val="15803D"/>
                </a:solidFill>
              </a:rPr>
              <a:t>−5.9e−5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199D5-20EE-4932-BFA3-16832F66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292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E_tot slope, eV/ps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D019F8-41F4-4AEA-8B42-8D31CF60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52950"/>
            <a:ext cx="247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B507C5-E586-4C30-9098-DAD65434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762500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803D"/>
                </a:solidFill>
              </a:defRPr>
            </a:pPr>
            <a:r>
              <a:rPr sz="3000" b="1">
                <a:solidFill>
                  <a:srgbClr val="15803D"/>
                </a:solidFill>
              </a:rPr>
              <a:t>3.124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E77CF0-45E5-4C24-8B1C-0218BE96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4292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Cv direct E_tot, kB/atom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C32FA7-A596-4C08-8167-DC887044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52950"/>
            <a:ext cx="2476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76735F-4519-4CC2-840F-F738CCB3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2057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803D"/>
                </a:solidFill>
              </a:defRPr>
            </a:pPr>
            <a:r>
              <a:rPr sz="3000" b="1">
                <a:solidFill>
                  <a:srgbClr val="15803D"/>
                </a:solidFill>
              </a:rPr>
              <a:t>3.096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598A4C-32DC-4F8E-8055-59DF730C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4292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Cv path-energy, kB/atom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9C016A-7699-4333-891B-8F5E55BB5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Path-energy все еще имеет линейный work-drift, но direct E_tot у energy-модели почти не плывет.</a:t>
            </a:r>
          </a:p>
        </p:txBody>
      </p:sp>
    </p:spTree>
    <p:extLst>
      <p:ext uri="{BB962C8B-B14F-4D97-AF65-F5344CB8AC3E}">
        <p14:creationId xmlns:p14="http://schemas.microsoft.com/office/powerpoint/2010/main" val="13291065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1D9527-3494-41B1-8347-F866F011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COM-SUBTRACTION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64AFE-7EE7-4962-BB2E-CA58C8D7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933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</a:rPr>
              <a:t>Расхождение displacement components оказалось q=0 drift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25B16-2150-4CDF-9C16-EBF4832C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Cu pair-energy RNN / 250k ASE NVT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24604-0F24-4E02-8FA1-AFB2E768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4840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10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59ab863134cc6"/>
          <a:stretch xmlns:a="http://schemas.openxmlformats.org/drawingml/2006/main"/>
        </p:blipFill>
        <p:spPr>
          <a:xfrm xmlns:a="http://schemas.openxmlformats.org/drawingml/2006/main">
            <a:off x="533400" y="2366963"/>
            <a:ext cx="5810250" cy="17430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A5C74-BD77-48BC-9033-B5F82EAF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571625"/>
            <a:ext cx="433387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EB6C0-F0BB-4EDF-AEE9-BEA066D0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90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Raw displacement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4C56B-8DE0-4A87-B3D1-46D439B6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907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91C1C"/>
                </a:solidFill>
              </a:defRPr>
            </a:pPr>
            <a:r>
              <a:rPr sz="1650" b="0">
                <a:solidFill>
                  <a:srgbClr val="B91C1C"/>
                </a:solidFill>
              </a:rPr>
              <a:t>mean = +0.0248 A</a:t>
            </a:r>
          </a:p>
          <a:p xmlns:a="http://schemas.openxmlformats.org/drawingml/2006/main">
            <a:pPr algn="l">
              <a:defRPr sz="1650" b="0">
                <a:solidFill>
                  <a:srgbClr val="B91C1C"/>
                </a:solidFill>
              </a:defRPr>
            </a:pPr>
            <a:r>
              <a:rPr sz="1650" b="0">
                <a:solidFill>
                  <a:srgbClr val="B91C1C"/>
                </a:solidFill>
              </a:rPr>
              <a:t>std ratio = 1.0845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0AF052-2C4B-4412-9894-D70821B6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028950"/>
            <a:ext cx="43338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FF4"/>
          </a:solidFill>
          <a:ln xmlns:a="http://schemas.openxmlformats.org/drawingml/2006/main" w="9525">
            <a:solidFill>
              <a:srgbClr val="BBDD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5DCACF-9026-4E83-96D1-165E9C82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766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After COM subtraction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E20E3-F9BA-44DD-A067-4A144429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766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5803D"/>
                </a:solidFill>
              </a:defRPr>
            </a:pPr>
            <a:r>
              <a:rPr sz="1650" b="0">
                <a:solidFill>
                  <a:srgbClr val="15803D"/>
                </a:solidFill>
              </a:rPr>
              <a:t>std ≈ 0.081 A for all axes</a:t>
            </a:r>
          </a:p>
          <a:p xmlns:a="http://schemas.openxmlformats.org/drawingml/2006/main">
            <a:pPr algn="l">
              <a:defRPr sz="1650" b="0">
                <a:solidFill>
                  <a:srgbClr val="15803D"/>
                </a:solidFill>
              </a:defRPr>
            </a:pPr>
            <a:r>
              <a:rPr sz="1650" b="0">
                <a:solidFill>
                  <a:srgbClr val="15803D"/>
                </a:solidFill>
              </a:rPr>
              <a:t>TV distance: 0.005–0.018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CCE7D5-D5B3-4D41-B8CE-2047AEAD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530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Вывод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DB0D7-27E0-420E-9326-4034F03F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334000"/>
            <a:ext cx="438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</a:rPr>
              <a:t>Локальная динамика выглядит согласованной; raw histogram расходился в основном из-за слабого накопленного центра-масс/нулевой моды.</a:t>
            </a:r>
          </a:p>
        </p:txBody>
      </p:sp>
    </p:spTree>
    <p:extLst>
      <p:ext uri="{BB962C8B-B14F-4D97-AF65-F5344CB8AC3E}">
        <p14:creationId xmlns:p14="http://schemas.microsoft.com/office/powerpoint/2010/main" val="14744117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2026-06-24T10:10:02.1650000Z</dcterms:created>
  <dcterms:modified xsi:type="dcterms:W3CDTF">2026-06-24T10:10:02.1650000Z</dcterms:modified>
</coreProperties>
</file>